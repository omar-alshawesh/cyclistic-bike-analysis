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3" r:id="rId2"/>
    <p:sldId id="260" r:id="rId3"/>
    <p:sldId id="258" r:id="rId4"/>
    <p:sldId id="261" r:id="rId5"/>
    <p:sldId id="262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28" b="1" i="0" u="none" strike="noStrike" kern="1200" cap="none" spc="0" normalizeH="0" baseline="0">
                <a:solidFill>
                  <a:prstClr val="black">
                    <a:lumMod val="50000"/>
                    <a:lumOff val="50000"/>
                  </a:prstClr>
                </a:solidFill>
                <a:latin typeface="+mj-lt"/>
                <a:ea typeface="+mj-ea"/>
                <a:cs typeface="+mj-cs"/>
              </a:defRPr>
            </a:pPr>
            <a:r>
              <a:rPr lang="en-US" sz="2128" b="1" i="0" u="none" strike="noStrike" kern="1200" cap="none" spc="0" normalizeH="0" baseline="0">
                <a:solidFill>
                  <a:prstClr val="black">
                    <a:lumMod val="50000"/>
                    <a:lumOff val="50000"/>
                  </a:prstClr>
                </a:solidFill>
                <a:latin typeface="+mj-lt"/>
                <a:ea typeface="+mj-ea"/>
                <a:cs typeface="+mj-cs"/>
              </a:rPr>
              <a:t>Percentage of Rides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28" b="1" i="0" u="none" strike="noStrike" kern="1200" cap="none" spc="0" normalizeH="0" baseline="0">
              <a:solidFill>
                <a:prstClr val="black">
                  <a:lumMod val="50000"/>
                  <a:lumOff val="50000"/>
                </a:prst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'user &amp; bike type'!$B$2</c:f>
              <c:strCache>
                <c:ptCount val="1"/>
                <c:pt idx="0">
                  <c:v>Number of rides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059-4743-ABDF-C19CF4BDF0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059-4743-ABDF-C19CF4BDF02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'user &amp; bike type'!$A$3:$A$4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'user &amp; bike type'!$B$3:$B$4</c:f>
              <c:numCache>
                <c:formatCode>_(* #,##0.0_);_(* \(#,##0.0\);_(* "-"??_);_(@_)</c:formatCode>
                <c:ptCount val="2"/>
                <c:pt idx="0">
                  <c:v>2000084</c:v>
                </c:pt>
                <c:pt idx="1">
                  <c:v>3551979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59-4743-ABDF-C19CF4BDF02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'Average ride duration '!$B$2</c:f>
              <c:strCache>
                <c:ptCount val="1"/>
                <c:pt idx="0">
                  <c:v>Average ride duration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DB-4AFB-A32F-E4AE4AB57B9A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548F6C1-D3BC-4EE3-A2AE-21659FEFBF11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318627450980392"/>
                      <c:h val="0.1331192842293565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90DB-4AFB-A32F-E4AE4AB57B9A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D0CE0B5-7244-4469-B9D0-B32448EC0789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073529411764706"/>
                      <c:h val="0.1302006417336460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0DB-4AFB-A32F-E4AE4AB57B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'Average ride duration '!$A$3:$A$4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'Average ride duration '!$B$3:$B$4</c:f>
              <c:numCache>
                <c:formatCode>##.00\ "min"</c:formatCode>
                <c:ptCount val="2"/>
                <c:pt idx="0">
                  <c:v>17.28</c:v>
                </c:pt>
                <c:pt idx="1">
                  <c:v>11.45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DB-4AFB-A32F-E4AE4AB57B9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275018704"/>
        <c:axId val="275017744"/>
      </c:barChart>
      <c:catAx>
        <c:axId val="275018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017744"/>
        <c:crosses val="autoZero"/>
        <c:auto val="1"/>
        <c:lblAlgn val="ctr"/>
        <c:lblOffset val="100"/>
        <c:noMultiLvlLbl val="0"/>
      </c:catAx>
      <c:valAx>
        <c:axId val="275017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\ &quot;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01870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000" dirty="0"/>
              <a:t>Average Ride Duration by </a:t>
            </a:r>
            <a:r>
              <a:rPr lang="en-US" sz="2000" b="1" i="0" u="none" strike="noStrike" kern="1200" cap="none" spc="0" normalizeH="0" baseline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Time of Day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'rides by hour of day '!$B$1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1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'!$B$2:$B$3</c:f>
              <c:numCache>
                <c:formatCode>0.00" min"</c:formatCode>
                <c:ptCount val="2"/>
                <c:pt idx="0">
                  <c:v>16.036538808954397</c:v>
                </c:pt>
                <c:pt idx="1">
                  <c:v>10.536837987942993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4-432B-BDC7-977CA7A2FF5A}"/>
            </c:ext>
          </c:extLst>
        </c:ser>
        <c:ser>
          <c:idx val="1"/>
          <c:order val="1"/>
          <c:tx>
            <c:strRef>
              <c:f>'rides by hour of day '!$C$1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1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'!$C$2:$C$3</c:f>
              <c:numCache>
                <c:formatCode>0.00" min"</c:formatCode>
                <c:ptCount val="2"/>
                <c:pt idx="0">
                  <c:v>19.652495373034771</c:v>
                </c:pt>
                <c:pt idx="1">
                  <c:v>11.752223362855732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B4-432B-BDC7-977CA7A2FF5A}"/>
            </c:ext>
          </c:extLst>
        </c:ser>
        <c:ser>
          <c:idx val="2"/>
          <c:order val="2"/>
          <c:tx>
            <c:strRef>
              <c:f>'rides by hour of day '!$D$1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'!$D$2:$D$3</c:f>
              <c:numCache>
                <c:formatCode>0.00" min"</c:formatCode>
                <c:ptCount val="2"/>
                <c:pt idx="0">
                  <c:v>16.06170236522183</c:v>
                </c:pt>
                <c:pt idx="1">
                  <c:v>11.940964858071164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B4-432B-BDC7-977CA7A2FF5A}"/>
            </c:ext>
          </c:extLst>
        </c:ser>
        <c:ser>
          <c:idx val="3"/>
          <c:order val="3"/>
          <c:tx>
            <c:strRef>
              <c:f>'rides by hour of day '!$E$1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chemeClr val="accent1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'!$E$2:$E$3</c:f>
              <c:numCache>
                <c:formatCode>0.00" min"</c:formatCode>
                <c:ptCount val="2"/>
                <c:pt idx="0">
                  <c:v>13.516800110641801</c:v>
                </c:pt>
                <c:pt idx="1">
                  <c:v>10.897184744739567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B4-432B-BDC7-977CA7A2FF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591468896"/>
        <c:axId val="1591466976"/>
      </c:barChart>
      <c:catAx>
        <c:axId val="1591468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466976"/>
        <c:crosses val="autoZero"/>
        <c:auto val="1"/>
        <c:lblAlgn val="ctr"/>
        <c:lblOffset val="100"/>
        <c:noMultiLvlLbl val="0"/>
      </c:catAx>
      <c:valAx>
        <c:axId val="159146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&quot; 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468896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Distribution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'rides by hour of day '!$A$6</c:f>
              <c:strCache>
                <c:ptCount val="1"/>
                <c:pt idx="0">
                  <c:v>casual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'rides by hour of day '!$B$5:$Y$5</c:f>
              <c:numCache>
                <c:formatCode>00":00"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'rides by hour of day '!$B$6:$Y$6</c:f>
              <c:numCache>
                <c:formatCode>0.00%</c:formatCode>
                <c:ptCount val="24"/>
                <c:pt idx="0">
                  <c:v>1.9444683323300422E-2</c:v>
                </c:pt>
                <c:pt idx="1">
                  <c:v>1.2435977688937064E-2</c:v>
                </c:pt>
                <c:pt idx="2">
                  <c:v>8.3431495877173151E-3</c:v>
                </c:pt>
                <c:pt idx="3">
                  <c:v>4.6263056951608029E-3</c:v>
                </c:pt>
                <c:pt idx="4">
                  <c:v>3.6398471264206902E-3</c:v>
                </c:pt>
                <c:pt idx="5">
                  <c:v>5.7602580691610951E-3</c:v>
                </c:pt>
                <c:pt idx="6">
                  <c:v>1.3315440751488437E-2</c:v>
                </c:pt>
                <c:pt idx="7">
                  <c:v>2.4845456490827384E-2</c:v>
                </c:pt>
                <c:pt idx="8">
                  <c:v>3.5280018239233955E-2</c:v>
                </c:pt>
                <c:pt idx="9">
                  <c:v>3.5443011393521469E-2</c:v>
                </c:pt>
                <c:pt idx="10">
                  <c:v>4.2762703966433412E-2</c:v>
                </c:pt>
                <c:pt idx="11">
                  <c:v>5.4662204187424131E-2</c:v>
                </c:pt>
                <c:pt idx="12">
                  <c:v>6.4336797854490105E-2</c:v>
                </c:pt>
                <c:pt idx="13">
                  <c:v>6.5933230804306214E-2</c:v>
                </c:pt>
                <c:pt idx="14">
                  <c:v>6.946008267652759E-2</c:v>
                </c:pt>
                <c:pt idx="15">
                  <c:v>7.7148259773089534E-2</c:v>
                </c:pt>
                <c:pt idx="16">
                  <c:v>8.7946306255137288E-2</c:v>
                </c:pt>
                <c:pt idx="17">
                  <c:v>9.5367494565228264E-2</c:v>
                </c:pt>
                <c:pt idx="18">
                  <c:v>8.1944558328550202E-2</c:v>
                </c:pt>
                <c:pt idx="19">
                  <c:v>6.096693938854568E-2</c:v>
                </c:pt>
                <c:pt idx="20">
                  <c:v>4.3959153715543944E-2</c:v>
                </c:pt>
                <c:pt idx="21">
                  <c:v>3.758992122330862E-2</c:v>
                </c:pt>
                <c:pt idx="22">
                  <c:v>3.1765665842034635E-2</c:v>
                </c:pt>
                <c:pt idx="23">
                  <c:v>2.3022533053611748E-2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4D-4784-BABB-B3480F17A550}"/>
            </c:ext>
          </c:extLst>
        </c:ser>
        <c:ser>
          <c:idx val="1"/>
          <c:order val="1"/>
          <c:tx>
            <c:strRef>
              <c:f>'rides by hour of day '!$A$7</c:f>
              <c:strCache>
                <c:ptCount val="1"/>
                <c:pt idx="0">
                  <c:v>member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'rides by hour of day '!$B$5:$Y$5</c:f>
              <c:numCache>
                <c:formatCode>00":00"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'rides by hour of day '!$B$7:$Y$7</c:f>
              <c:numCache>
                <c:formatCode>0.00%</c:formatCode>
                <c:ptCount val="24"/>
                <c:pt idx="0">
                  <c:v>9.125053948798683E-3</c:v>
                </c:pt>
                <c:pt idx="1">
                  <c:v>5.6284116544607953E-3</c:v>
                </c:pt>
                <c:pt idx="2">
                  <c:v>3.4031732732654105E-3</c:v>
                </c:pt>
                <c:pt idx="3">
                  <c:v>2.2243937816073798E-3</c:v>
                </c:pt>
                <c:pt idx="4">
                  <c:v>2.4884719194567312E-3</c:v>
                </c:pt>
                <c:pt idx="5">
                  <c:v>9.6571516892414062E-3</c:v>
                </c:pt>
                <c:pt idx="6">
                  <c:v>2.8425562200677424E-2</c:v>
                </c:pt>
                <c:pt idx="7">
                  <c:v>5.6232314436543682E-2</c:v>
                </c:pt>
                <c:pt idx="8">
                  <c:v>7.2334605581846068E-2</c:v>
                </c:pt>
                <c:pt idx="9">
                  <c:v>4.6939185169732139E-2</c:v>
                </c:pt>
                <c:pt idx="10">
                  <c:v>4.0328222661226321E-2</c:v>
                </c:pt>
                <c:pt idx="11">
                  <c:v>4.7324322581862109E-2</c:v>
                </c:pt>
                <c:pt idx="12">
                  <c:v>5.3554933742569984E-2</c:v>
                </c:pt>
                <c:pt idx="13">
                  <c:v>5.2065060069330364E-2</c:v>
                </c:pt>
                <c:pt idx="14">
                  <c:v>5.2861799014014443E-2</c:v>
                </c:pt>
                <c:pt idx="15">
                  <c:v>6.6765597431741569E-2</c:v>
                </c:pt>
                <c:pt idx="16">
                  <c:v>9.4211987176725992E-2</c:v>
                </c:pt>
                <c:pt idx="17">
                  <c:v>0.10761212270680655</c:v>
                </c:pt>
                <c:pt idx="18">
                  <c:v>8.3305954230022197E-2</c:v>
                </c:pt>
                <c:pt idx="19">
                  <c:v>5.7583673777350596E-2</c:v>
                </c:pt>
                <c:pt idx="20">
                  <c:v>3.9876080348448008E-2</c:v>
                </c:pt>
                <c:pt idx="21">
                  <c:v>3.1141794475699321E-2</c:v>
                </c:pt>
                <c:pt idx="22" formatCode="General">
                  <c:v>2.27188843177282E-2</c:v>
                </c:pt>
                <c:pt idx="23">
                  <c:v>1.4191243810844602E-2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4D-4784-BABB-B3480F17A5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80141568"/>
        <c:axId val="1580134368"/>
      </c:lineChart>
      <c:catAx>
        <c:axId val="15801415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00&quot;:00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134368"/>
        <c:crosses val="autoZero"/>
        <c:auto val="1"/>
        <c:lblAlgn val="ctr"/>
        <c:lblOffset val="100"/>
        <c:noMultiLvlLbl val="0"/>
      </c:catAx>
      <c:valAx>
        <c:axId val="158013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14156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Distribution by Day of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'Number of rides by day of week '!$A$6</c:f>
              <c:strCache>
                <c:ptCount val="1"/>
                <c:pt idx="0">
                  <c:v>casual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'Number of rides by day of week '!$B$5:$H$5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'Number of rides by day of week '!$B$6:$H$6</c:f>
              <c:numCache>
                <c:formatCode>0.00%</c:formatCode>
                <c:ptCount val="7"/>
                <c:pt idx="0">
                  <c:v>0.1662230186332174</c:v>
                </c:pt>
                <c:pt idx="1">
                  <c:v>0.11440719489781428</c:v>
                </c:pt>
                <c:pt idx="2">
                  <c:v>0.11353473154127526</c:v>
                </c:pt>
                <c:pt idx="3">
                  <c:v>0.11025336935848694</c:v>
                </c:pt>
                <c:pt idx="4">
                  <c:v>0.12863709724191583</c:v>
                </c:pt>
                <c:pt idx="5">
                  <c:v>0.15997578101719728</c:v>
                </c:pt>
                <c:pt idx="6">
                  <c:v>0.20696880731009298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13-403C-B112-7B5CC0A864BC}"/>
            </c:ext>
          </c:extLst>
        </c:ser>
        <c:ser>
          <c:idx val="1"/>
          <c:order val="1"/>
          <c:tx>
            <c:strRef>
              <c:f>'Number of rides by day of week '!$A$7</c:f>
              <c:strCache>
                <c:ptCount val="1"/>
                <c:pt idx="0">
                  <c:v>member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'Number of rides by day of week '!$B$5:$H$5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'Number of rides by day of week '!$B$7:$H$7</c:f>
              <c:numCache>
                <c:formatCode>0.00%</c:formatCode>
                <c:ptCount val="7"/>
                <c:pt idx="0">
                  <c:v>0.1075828432544224</c:v>
                </c:pt>
                <c:pt idx="1">
                  <c:v>0.14199183046971842</c:v>
                </c:pt>
                <c:pt idx="2">
                  <c:v>0.16023940456855179</c:v>
                </c:pt>
                <c:pt idx="3">
                  <c:v>0.15446544025175823</c:v>
                </c:pt>
                <c:pt idx="4">
                  <c:v>0.16080641242529869</c:v>
                </c:pt>
                <c:pt idx="5">
                  <c:v>0.14849496576415569</c:v>
                </c:pt>
                <c:pt idx="6">
                  <c:v>0.12641910326609476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13-403C-B112-7B5CC0A86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3584"/>
        <c:axId val="6718464"/>
      </c:lineChart>
      <c:catAx>
        <c:axId val="6703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18464"/>
        <c:crosses val="autoZero"/>
        <c:auto val="1"/>
        <c:lblAlgn val="ctr"/>
        <c:lblOffset val="100"/>
        <c:noMultiLvlLbl val="0"/>
      </c:catAx>
      <c:valAx>
        <c:axId val="671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0358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000" dirty="0"/>
              <a:t>Average Ride Duration by </a:t>
            </a:r>
            <a:r>
              <a:rPr lang="en-US" sz="2000" b="1" i="0" u="none" strike="noStrike" kern="1200" cap="none" spc="0" normalizeH="0" baseline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Day Type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'Number of rides by day of week '!$B$1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'Number of rides by day of week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'Number of rides by day of week '!$B$2:$B$3</c:f>
              <c:numCache>
                <c:formatCode>00.00\ "min"</c:formatCode>
                <c:ptCount val="2"/>
                <c:pt idx="0">
                  <c:v>15.974431623697352</c:v>
                </c:pt>
                <c:pt idx="1">
                  <c:v>11.143059969577546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AE-446D-869E-87C765A405A7}"/>
            </c:ext>
          </c:extLst>
        </c:ser>
        <c:ser>
          <c:idx val="1"/>
          <c:order val="1"/>
          <c:tx>
            <c:strRef>
              <c:f>'Number of rides by day of week '!$C$1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'Number of rides by day of week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'Number of rides by day of week '!$C$2:$C$3</c:f>
              <c:numCache>
                <c:formatCode>00.00\ "min"</c:formatCode>
                <c:ptCount val="2"/>
                <c:pt idx="0">
                  <c:v>19.490755956790242</c:v>
                </c:pt>
                <c:pt idx="1">
                  <c:v>12.482658834524486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AE-446D-869E-87C765A405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539585952"/>
        <c:axId val="1539583072"/>
      </c:barChart>
      <c:catAx>
        <c:axId val="15395859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9583072"/>
        <c:crosses val="autoZero"/>
        <c:auto val="1"/>
        <c:lblAlgn val="ctr"/>
        <c:lblOffset val="100"/>
        <c:noMultiLvlLbl val="0"/>
      </c:catAx>
      <c:valAx>
        <c:axId val="1539583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0\ &quot;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958595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Distribution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'rides by month '!$A$8</c:f>
              <c:strCache>
                <c:ptCount val="1"/>
                <c:pt idx="0">
                  <c:v>casual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'rides by month '!$B$7:$M$7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'rides by month '!$B$8:$M$8</c:f>
              <c:numCache>
                <c:formatCode>0.00%</c:formatCode>
                <c:ptCount val="12"/>
                <c:pt idx="0">
                  <c:v>1.2370480439821528E-2</c:v>
                </c:pt>
                <c:pt idx="1">
                  <c:v>1.3877917127480646E-2</c:v>
                </c:pt>
                <c:pt idx="2">
                  <c:v>4.2929196973727102E-2</c:v>
                </c:pt>
                <c:pt idx="3">
                  <c:v>5.461720607734475E-2</c:v>
                </c:pt>
                <c:pt idx="4">
                  <c:v>9.1381161991196364E-2</c:v>
                </c:pt>
                <c:pt idx="5">
                  <c:v>0.14599686813153848</c:v>
                </c:pt>
                <c:pt idx="6">
                  <c:v>0.16166920989318448</c:v>
                </c:pt>
                <c:pt idx="7">
                  <c:v>0.16893190485999587</c:v>
                </c:pt>
                <c:pt idx="8">
                  <c:v>0.13262842960595655</c:v>
                </c:pt>
                <c:pt idx="9">
                  <c:v>0.11201429539959322</c:v>
                </c:pt>
                <c:pt idx="10">
                  <c:v>4.9538919365386652E-2</c:v>
                </c:pt>
                <c:pt idx="11">
                  <c:v>1.4044410134774339E-2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03-403B-B283-ADB5FC9EBFDD}"/>
            </c:ext>
          </c:extLst>
        </c:ser>
        <c:ser>
          <c:idx val="1"/>
          <c:order val="1"/>
          <c:tx>
            <c:strRef>
              <c:f>'rides by month '!$A$9</c:f>
              <c:strCache>
                <c:ptCount val="1"/>
                <c:pt idx="0">
                  <c:v>member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'rides by month '!$B$7:$M$7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'rides by month '!$B$9:$M$9</c:f>
              <c:numCache>
                <c:formatCode>0.00%</c:formatCode>
                <c:ptCount val="12"/>
                <c:pt idx="0">
                  <c:v>3.1823667876414809E-2</c:v>
                </c:pt>
                <c:pt idx="1">
                  <c:v>3.4950657084402807E-2</c:v>
                </c:pt>
                <c:pt idx="2">
                  <c:v>5.9760488448833735E-2</c:v>
                </c:pt>
                <c:pt idx="3">
                  <c:v>7.3800267400229561E-2</c:v>
                </c:pt>
                <c:pt idx="4">
                  <c:v>9.0046985075080674E-2</c:v>
                </c:pt>
                <c:pt idx="5">
                  <c:v>0.10889563254737711</c:v>
                </c:pt>
                <c:pt idx="6">
                  <c:v>0.1239044487594099</c:v>
                </c:pt>
                <c:pt idx="7">
                  <c:v>0.12737659766569565</c:v>
                </c:pt>
                <c:pt idx="8">
                  <c:v>0.12649117576427113</c:v>
                </c:pt>
                <c:pt idx="9">
                  <c:v>0.1188233376379759</c:v>
                </c:pt>
                <c:pt idx="10">
                  <c:v>7.2466926183966746E-2</c:v>
                </c:pt>
                <c:pt idx="11">
                  <c:v>3.1659815556341973E-2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03-403B-B283-ADB5FC9EB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1312832"/>
        <c:axId val="1581308992"/>
      </c:lineChart>
      <c:catAx>
        <c:axId val="1581312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1308992"/>
        <c:crosses val="autoZero"/>
        <c:auto val="1"/>
        <c:lblAlgn val="ctr"/>
        <c:lblOffset val="100"/>
        <c:noMultiLvlLbl val="0"/>
      </c:catAx>
      <c:valAx>
        <c:axId val="158130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131283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000" dirty="0"/>
              <a:t>Average Ride Duration by Season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'rides by month '!$A$2</c:f>
              <c:strCache>
                <c:ptCount val="1"/>
                <c:pt idx="0">
                  <c:v>Spring</c:v>
                </c:pt>
              </c:strCache>
            </c:strRef>
          </c:tx>
          <c:spPr>
            <a:solidFill>
              <a:schemeClr val="accent1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'!$B$2:$C$2</c:f>
              <c:numCache>
                <c:formatCode>0.00" min"</c:formatCode>
                <c:ptCount val="2"/>
                <c:pt idx="0">
                  <c:v>17.002607685096869</c:v>
                </c:pt>
                <c:pt idx="1">
                  <c:v>10.921436005334295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6C-4A5E-8885-3DAE6A39B42E}"/>
            </c:ext>
          </c:extLst>
        </c:ser>
        <c:ser>
          <c:idx val="1"/>
          <c:order val="1"/>
          <c:tx>
            <c:strRef>
              <c:f>'rides by month '!$A$3</c:f>
              <c:strCache>
                <c:ptCount val="1"/>
                <c:pt idx="0">
                  <c:v>Summer</c:v>
                </c:pt>
              </c:strCache>
            </c:strRef>
          </c:tx>
          <c:spPr>
            <a:solidFill>
              <a:schemeClr val="accent1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'!$B$3:$C$3</c:f>
              <c:numCache>
                <c:formatCode>0.00" min"</c:formatCode>
                <c:ptCount val="2"/>
                <c:pt idx="0">
                  <c:v>18.78040028730684</c:v>
                </c:pt>
                <c:pt idx="1">
                  <c:v>12.373369862132034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6C-4A5E-8885-3DAE6A39B42E}"/>
            </c:ext>
          </c:extLst>
        </c:ser>
        <c:ser>
          <c:idx val="2"/>
          <c:order val="2"/>
          <c:tx>
            <c:strRef>
              <c:f>'rides by month '!$A$4</c:f>
              <c:strCache>
                <c:ptCount val="1"/>
                <c:pt idx="0">
                  <c:v>Fall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'!$B$4:$C$4</c:f>
              <c:numCache>
                <c:formatCode>0.00" min"</c:formatCode>
                <c:ptCount val="2"/>
                <c:pt idx="0">
                  <c:v>15.966412451916934</c:v>
                </c:pt>
                <c:pt idx="1">
                  <c:v>11.370605817946442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6C-4A5E-8885-3DAE6A39B42E}"/>
            </c:ext>
          </c:extLst>
        </c:ser>
        <c:ser>
          <c:idx val="3"/>
          <c:order val="3"/>
          <c:tx>
            <c:strRef>
              <c:f>'rides by month '!$A$5</c:f>
              <c:strCache>
                <c:ptCount val="1"/>
                <c:pt idx="0">
                  <c:v>Winter</c:v>
                </c:pt>
              </c:strCache>
            </c:strRef>
          </c:tx>
          <c:spPr>
            <a:solidFill>
              <a:schemeClr val="accent1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'!$B$5:$C$5</c:f>
              <c:numCache>
                <c:formatCode>0.00" min"</c:formatCode>
                <c:ptCount val="2"/>
                <c:pt idx="0">
                  <c:v>10.556509682765629</c:v>
                </c:pt>
                <c:pt idx="1">
                  <c:v>9.588814910948825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6C-4A5E-8885-3DAE6A39B42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481226288"/>
        <c:axId val="1481227248"/>
      </c:barChart>
      <c:catAx>
        <c:axId val="1481226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227248"/>
        <c:crosses val="autoZero"/>
        <c:auto val="1"/>
        <c:lblAlgn val="ctr"/>
        <c:lblOffset val="100"/>
        <c:noMultiLvlLbl val="0"/>
      </c:catAx>
      <c:valAx>
        <c:axId val="148122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&quot; 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22628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Duration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'Average ride duration '!$B$7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'Average ride duration '!$A$8:$A$11</c:f>
              <c:strCache>
                <c:ptCount val="4"/>
                <c:pt idx="0">
                  <c:v>0-10 min</c:v>
                </c:pt>
                <c:pt idx="1">
                  <c:v>10-20 min</c:v>
                </c:pt>
                <c:pt idx="2">
                  <c:v>20-40 min</c:v>
                </c:pt>
                <c:pt idx="3">
                  <c:v>40+ min</c:v>
                </c:pt>
              </c:strCache>
            </c:strRef>
          </c:cat>
          <c:val>
            <c:numRef>
              <c:f>'Average ride duration '!$B$8:$B$11</c:f>
              <c:numCache>
                <c:formatCode>0.0%</c:formatCode>
                <c:ptCount val="4"/>
                <c:pt idx="0">
                  <c:v>0.44424426714615151</c:v>
                </c:pt>
                <c:pt idx="1">
                  <c:v>0.29221529244811406</c:v>
                </c:pt>
                <c:pt idx="2">
                  <c:v>0.1738093846253084</c:v>
                </c:pt>
                <c:pt idx="3">
                  <c:v>8.9731055780426047E-2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A-44F2-8E8B-CFF1A32ED798}"/>
            </c:ext>
          </c:extLst>
        </c:ser>
        <c:ser>
          <c:idx val="1"/>
          <c:order val="1"/>
          <c:tx>
            <c:strRef>
              <c:f>'Average ride duration '!$C$7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2467060720035282E-17"/>
                  <c:y val="2.9186424957105147E-3"/>
                </c:manualLayout>
              </c:layout>
              <c:tx>
                <c:rich>
                  <a:bodyPr/>
                  <a:lstStyle/>
                  <a:p>
                    <a:fld id="{2DB41C5A-3188-45EA-9A45-8290EE3CBCBB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72-4AD8-8DC0-703FADCA962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AE5DA65-66E8-4007-BBA8-A8630E6D3277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172-4AD8-8DC0-703FADCA96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3C3107F-0E1D-42A7-978A-7B77413F6F3F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E172-4AD8-8DC0-703FADCA962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69112BE-CA83-4D07-A578-B86A2124600E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E172-4AD8-8DC0-703FADCA96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'Average ride duration '!$A$8:$A$11</c:f>
              <c:strCache>
                <c:ptCount val="4"/>
                <c:pt idx="0">
                  <c:v>0-10 min</c:v>
                </c:pt>
                <c:pt idx="1">
                  <c:v>10-20 min</c:v>
                </c:pt>
                <c:pt idx="2">
                  <c:v>20-40 min</c:v>
                </c:pt>
                <c:pt idx="3">
                  <c:v>40+ min</c:v>
                </c:pt>
              </c:strCache>
            </c:strRef>
          </c:cat>
          <c:val>
            <c:numRef>
              <c:f>'Average ride duration '!$C$8:$C$11</c:f>
              <c:numCache>
                <c:formatCode>0.0%</c:formatCode>
                <c:ptCount val="4"/>
                <c:pt idx="0">
                  <c:v>0.57834061938334658</c:v>
                </c:pt>
                <c:pt idx="1">
                  <c:v>0.28393146064785635</c:v>
                </c:pt>
                <c:pt idx="2">
                  <c:v>0.11694822378030226</c:v>
                </c:pt>
                <c:pt idx="3">
                  <c:v>2.0779696188494783E-2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A-44F2-8E8B-CFF1A32ED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668544"/>
        <c:axId val="6676224"/>
      </c:barChart>
      <c:catAx>
        <c:axId val="6668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76224"/>
        <c:crosses val="autoZero"/>
        <c:auto val="1"/>
        <c:lblAlgn val="ctr"/>
        <c:lblOffset val="100"/>
        <c:noMultiLvlLbl val="0"/>
      </c:catAx>
      <c:valAx>
        <c:axId val="6676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854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03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27AB622-2BD5-BE14-14CC-CD8E1553485E}"/>
            </a:ext>
          </a:extLst>
        </cdr:cNvPr>
        <cdr:cNvSpPr/>
      </cdr:nvSpPr>
      <cdr:spPr>
        <a:xfrm xmlns:a="http://schemas.openxmlformats.org/drawingml/2006/main">
          <a:off x="0" y="0"/>
          <a:ext cx="5181600" cy="435133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F5DFE-2C7D-4431-AB35-4A232F52A96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D1CC0-4ABD-4D52-84D2-8732AC606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54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C492F-0849-45CA-9FC7-C3199B2664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7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C492F-0849-45CA-9FC7-C3199B2664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41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6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0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0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4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5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9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0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7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5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7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0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chemeClr val="bg1"/>
            </a:gs>
            <a:gs pos="100000">
              <a:schemeClr val="accent2">
                <a:alpha val="79000"/>
              </a:schemeClr>
            </a:gs>
            <a:gs pos="2000">
              <a:schemeClr val="tx2">
                <a:lumMod val="75000"/>
                <a:lumOff val="25000"/>
                <a:alpha val="63000"/>
              </a:schemeClr>
            </a:gs>
            <a:gs pos="87000">
              <a:schemeClr val="bg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73A19-71A6-A711-E312-5431D9276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03" y="0"/>
            <a:ext cx="6764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AC1498E6-61AF-4939-8101-200DE462DF5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09870452"/>
              </p:ext>
            </p:extLst>
          </p:nvPr>
        </p:nvGraphicFramePr>
        <p:xfrm>
          <a:off x="0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37E89D73-EB1D-4A10-B378-A6FDF82344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6167499"/>
              </p:ext>
            </p:extLst>
          </p:nvPr>
        </p:nvGraphicFramePr>
        <p:xfrm>
          <a:off x="0" y="3594495"/>
          <a:ext cx="9144000" cy="3263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6399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6C31ECB-086F-98FD-EEC3-2407B54FEB0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27151306"/>
              </p:ext>
            </p:extLst>
          </p:nvPr>
        </p:nvGraphicFramePr>
        <p:xfrm>
          <a:off x="-1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CB1806-D54C-4191-8B5D-95415B7C5C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73069883"/>
              </p:ext>
            </p:extLst>
          </p:nvPr>
        </p:nvGraphicFramePr>
        <p:xfrm>
          <a:off x="0" y="3594496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43DA2C4-F71E-AAA4-50DE-1D6CE3ABC72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651387" y="2890684"/>
            <a:ext cx="3694471" cy="372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CA4097-6D72-F631-13BC-7D837CC4783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2000"/>
          </a:blip>
          <a:stretch>
            <a:fillRect/>
          </a:stretch>
        </p:blipFill>
        <p:spPr>
          <a:xfrm>
            <a:off x="4345858" y="2890684"/>
            <a:ext cx="3694471" cy="3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4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F733994D-FC65-4BD7-B54D-985ECE304F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2200722"/>
              </p:ext>
            </p:extLst>
          </p:nvPr>
        </p:nvGraphicFramePr>
        <p:xfrm>
          <a:off x="-1" y="3594497"/>
          <a:ext cx="9143999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D6D602ED-5A36-4E13-8E43-67F3900F2CA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85417456"/>
              </p:ext>
            </p:extLst>
          </p:nvPr>
        </p:nvGraphicFramePr>
        <p:xfrm>
          <a:off x="0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F5E5EE1-51E0-BC76-1C32-BD6F63CA56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71052" y="2890684"/>
            <a:ext cx="3694471" cy="372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BAEA06-0E80-AAEB-F38D-0ADAAAAA40D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2000"/>
          </a:blip>
          <a:stretch>
            <a:fillRect/>
          </a:stretch>
        </p:blipFill>
        <p:spPr>
          <a:xfrm>
            <a:off x="4365523" y="2890684"/>
            <a:ext cx="3694471" cy="3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0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E7C62C8-F9C8-4514-8C81-D5F1674BDF1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90138333"/>
              </p:ext>
            </p:extLst>
          </p:nvPr>
        </p:nvGraphicFramePr>
        <p:xfrm>
          <a:off x="0" y="3594496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9CE432E-7B26-4328-B239-1158E30F17A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66678950"/>
              </p:ext>
            </p:extLst>
          </p:nvPr>
        </p:nvGraphicFramePr>
        <p:xfrm>
          <a:off x="0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0D66ED5-C8BA-990A-B7BB-1EC984DAC37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58762" y="2890684"/>
            <a:ext cx="3706762" cy="372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27A6CF-4AC7-7F37-1695-FD8028FBDC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2000"/>
          </a:blip>
          <a:stretch>
            <a:fillRect/>
          </a:stretch>
        </p:blipFill>
        <p:spPr>
          <a:xfrm>
            <a:off x="4365523" y="2890684"/>
            <a:ext cx="3785419" cy="3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4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A1E4313-9260-4118-AC8C-B80D9742E7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03272505"/>
              </p:ext>
            </p:extLst>
          </p:nvPr>
        </p:nvGraphicFramePr>
        <p:xfrm>
          <a:off x="0" y="0"/>
          <a:ext cx="9143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90182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49</Words>
  <Application>Microsoft Office PowerPoint</Application>
  <PresentationFormat>On-screen Show (4:3)</PresentationFormat>
  <Paragraphs>17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ALA MAHMOUD ALSHAWESH</dc:creator>
  <cp:lastModifiedBy>OMAR ALA MAHMOUD ALSHAWESH</cp:lastModifiedBy>
  <cp:revision>2</cp:revision>
  <dcterms:created xsi:type="dcterms:W3CDTF">2026-03-30T21:12:44Z</dcterms:created>
  <dcterms:modified xsi:type="dcterms:W3CDTF">2026-03-31T19:32:48Z</dcterms:modified>
</cp:coreProperties>
</file>